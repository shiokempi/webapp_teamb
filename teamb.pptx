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58" r:id="rId5"/>
    <p:sldId id="263" r:id="rId6"/>
    <p:sldId id="262" r:id="rId7"/>
    <p:sldId id="259" r:id="rId8"/>
    <p:sldId id="264" r:id="rId9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E4FF"/>
    <a:srgbClr val="FF8F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34BAC-BB12-D693-7D2F-222CE7B79D6D}" v="1040" dt="2026-08-21T14:43:41.617"/>
    <p1510:client id="{0F2258C0-A649-A125-F4E6-A87FDE6ADDA6}" v="138" dt="2026-08-20T14:58:25.471"/>
    <p1510:client id="{7F004F54-EFBF-7985-C672-D17ECEAD6C5C}" v="1" dt="2026-08-20T14:38:11.705"/>
    <p1510:client id="{96222B2D-90A1-4BB1-A067-2046B71AA917}" v="226" dt="2026-08-20T14:48:34.147"/>
    <p1510:client id="{AA4A042F-15DC-4CB9-9960-D7903F0ABF93}" v="512" dt="2026-08-21T14:32:08.205"/>
    <p1510:client id="{FEE123F5-ABE1-1AE8-27C3-41C291F19F19}" v="536" dt="2026-08-21T15:00:30.2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05123-8A44-4140-8D97-FF8D56121E5F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2A01AF-A6FE-46A8-B876-C27BEDBFE5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6496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>
                <a:ea typeface="游ゴシック"/>
              </a:rPr>
              <a:t>起動時の画面</a:t>
            </a:r>
            <a:endParaRPr lang="en-US" altLang="ja-JP">
              <a:ea typeface="游ゴシック"/>
              <a:cs typeface="+mn-lt"/>
            </a:endParaRPr>
          </a:p>
          <a:p>
            <a:r>
              <a:rPr lang="ja-JP" altLang="en-US">
                <a:ea typeface="游ゴシック"/>
                <a:cs typeface="+mn-lt"/>
              </a:rPr>
              <a:t>設定や規約などの次にポップアップ表示して入力、収入（固定か非固定か）、予算設定、固定費設定を出す。全てスキップ可能。三マークから選んで編集可能</a:t>
            </a:r>
          </a:p>
          <a:p>
            <a:r>
              <a:rPr lang="ja-JP" altLang="en-US">
                <a:ea typeface="游ゴシック"/>
                <a:cs typeface="+mn-lt"/>
              </a:rPr>
              <a:t>三角ボタンでカテゴリを選べるように​</a:t>
            </a:r>
            <a:br>
              <a:rPr lang="ja-JP" altLang="en-US">
                <a:ea typeface="游ゴシック"/>
                <a:cs typeface="+mn-lt"/>
              </a:rPr>
            </a:br>
            <a:r>
              <a:rPr lang="ja-JP" altLang="en-US">
                <a:ea typeface="游ゴシック"/>
              </a:rPr>
              <a:t>ホーム、カレンダー、グラフ（Ai占い）、その他（固定費設定）</a:t>
            </a:r>
            <a:endParaRPr lang="en-US" altLang="ja-JP">
              <a:ea typeface="游ゴシック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2A01AF-A6FE-46A8-B876-C27BEDBFE58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9261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latin typeface="游ゴシック"/>
                <a:ea typeface="游ゴシック"/>
                <a:cs typeface="Calibri"/>
              </a:rPr>
              <a:t>ホーム下に表示。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2A01AF-A6FE-46A8-B876-C27BEDBFE58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4495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latin typeface="Calibri"/>
                <a:ea typeface="游ゴシック"/>
                <a:cs typeface="Calibri"/>
              </a:rPr>
              <a:t>カレンダーページ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2A01AF-A6FE-46A8-B876-C27BEDBFE58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4652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latin typeface="Calibri"/>
                <a:ea typeface="游ゴシック"/>
                <a:cs typeface="Calibri"/>
              </a:rPr>
              <a:t>グラフページ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2A01AF-A6FE-46A8-B876-C27BEDBFE582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152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latin typeface="Calibri"/>
                <a:ea typeface="游ゴシック"/>
                <a:cs typeface="Calibri"/>
              </a:rPr>
              <a:t>三ボタンの画面。</a:t>
            </a:r>
          </a:p>
          <a:p>
            <a:r>
              <a:rPr lang="ja-JP" altLang="en-US">
                <a:latin typeface="游ゴシック"/>
                <a:ea typeface="游ゴシック"/>
                <a:cs typeface="Calibri"/>
              </a:rPr>
              <a:t>ポップアップで決めた後に編集するとき用。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2A01AF-A6FE-46A8-B876-C27BEDBFE58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2066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F0D9-3748-4522-BB37-001951B7DD47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5F3F-FB83-4F6A-BB7B-B49DCDDCF1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855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F0D9-3748-4522-BB37-001951B7DD47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5F3F-FB83-4F6A-BB7B-B49DCDDCF1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6848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F0D9-3748-4522-BB37-001951B7DD47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5F3F-FB83-4F6A-BB7B-B49DCDDCF1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08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F0D9-3748-4522-BB37-001951B7DD47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5F3F-FB83-4F6A-BB7B-B49DCDDCF1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8450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F0D9-3748-4522-BB37-001951B7DD47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5F3F-FB83-4F6A-BB7B-B49DCDDCF1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439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F0D9-3748-4522-BB37-001951B7DD47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5F3F-FB83-4F6A-BB7B-B49DCDDCF1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4849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F0D9-3748-4522-BB37-001951B7DD47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5F3F-FB83-4F6A-BB7B-B49DCDDCF1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9646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F0D9-3748-4522-BB37-001951B7DD47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5F3F-FB83-4F6A-BB7B-B49DCDDCF1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262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F0D9-3748-4522-BB37-001951B7DD47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5F3F-FB83-4F6A-BB7B-B49DCDDCF1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3313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F0D9-3748-4522-BB37-001951B7DD47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5F3F-FB83-4F6A-BB7B-B49DCDDCF1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04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F0D9-3748-4522-BB37-001951B7DD47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5F3F-FB83-4F6A-BB7B-B49DCDDCF1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347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74F0D9-3748-4522-BB37-001951B7DD47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95F3F-FB83-4F6A-BB7B-B49DCDDCF1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6221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13A523-08EE-08CA-49F1-7B2607F9A1DC}"/>
              </a:ext>
            </a:extLst>
          </p:cNvPr>
          <p:cNvSpPr/>
          <p:nvPr/>
        </p:nvSpPr>
        <p:spPr>
          <a:xfrm>
            <a:off x="7287" y="10923749"/>
            <a:ext cx="6806758" cy="12625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A370B941-00E4-19E3-B2B0-48CACBC9B0C6}"/>
              </a:ext>
            </a:extLst>
          </p:cNvPr>
          <p:cNvSpPr/>
          <p:nvPr/>
        </p:nvSpPr>
        <p:spPr>
          <a:xfrm>
            <a:off x="248410" y="11227680"/>
            <a:ext cx="900467" cy="655308"/>
          </a:xfrm>
          <a:prstGeom prst="up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642A11-7411-34BB-6720-7BE1BD63945C}"/>
              </a:ext>
            </a:extLst>
          </p:cNvPr>
          <p:cNvSpPr/>
          <p:nvPr/>
        </p:nvSpPr>
        <p:spPr>
          <a:xfrm>
            <a:off x="8845" y="1979603"/>
            <a:ext cx="6850719" cy="19805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7F2BBB-0784-883B-6FF4-692A8979D93F}"/>
              </a:ext>
            </a:extLst>
          </p:cNvPr>
          <p:cNvSpPr/>
          <p:nvPr/>
        </p:nvSpPr>
        <p:spPr>
          <a:xfrm>
            <a:off x="-2320" y="3185637"/>
            <a:ext cx="3893773" cy="55653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E54F6A-5890-E601-FE13-D5B9F2297A89}"/>
              </a:ext>
            </a:extLst>
          </p:cNvPr>
          <p:cNvSpPr/>
          <p:nvPr/>
        </p:nvSpPr>
        <p:spPr>
          <a:xfrm>
            <a:off x="3892114" y="3181216"/>
            <a:ext cx="2967452" cy="559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2A8DB-F3A5-114E-2C9A-3CDEA1C75A77}"/>
              </a:ext>
            </a:extLst>
          </p:cNvPr>
          <p:cNvSpPr txBox="1"/>
          <p:nvPr/>
        </p:nvSpPr>
        <p:spPr>
          <a:xfrm>
            <a:off x="1845125" y="1974029"/>
            <a:ext cx="318281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今月のメーター</a:t>
            </a:r>
            <a:endParaRPr lang="en-US" sz="3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74C04-E9E9-8C3E-D5C9-50D9B909D038}"/>
              </a:ext>
            </a:extLst>
          </p:cNvPr>
          <p:cNvSpPr txBox="1"/>
          <p:nvPr/>
        </p:nvSpPr>
        <p:spPr>
          <a:xfrm>
            <a:off x="2841586" y="2604145"/>
            <a:ext cx="118989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残り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455A0B-E919-5F1D-3C07-3C97349BEA2A}"/>
              </a:ext>
            </a:extLst>
          </p:cNvPr>
          <p:cNvSpPr txBox="1"/>
          <p:nvPr/>
        </p:nvSpPr>
        <p:spPr>
          <a:xfrm>
            <a:off x="2841585" y="4377259"/>
            <a:ext cx="123385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入力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63BEEA-EBC0-9638-88B3-FABD0A314FF4}"/>
              </a:ext>
            </a:extLst>
          </p:cNvPr>
          <p:cNvSpPr/>
          <p:nvPr/>
        </p:nvSpPr>
        <p:spPr>
          <a:xfrm>
            <a:off x="23498" y="5115526"/>
            <a:ext cx="6850719" cy="55707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31D8AC-E549-C3EF-34F0-A7E783B7ADDB}"/>
              </a:ext>
            </a:extLst>
          </p:cNvPr>
          <p:cNvSpPr/>
          <p:nvPr/>
        </p:nvSpPr>
        <p:spPr>
          <a:xfrm>
            <a:off x="4115094" y="5306534"/>
            <a:ext cx="1176251" cy="7484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0AC01F-89CB-E688-885E-27E3CF845FAB}"/>
              </a:ext>
            </a:extLst>
          </p:cNvPr>
          <p:cNvSpPr/>
          <p:nvPr/>
        </p:nvSpPr>
        <p:spPr>
          <a:xfrm>
            <a:off x="257960" y="6390410"/>
            <a:ext cx="6308526" cy="9548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3200">
                <a:solidFill>
                  <a:schemeClr val="accent2"/>
                </a:solidFill>
              </a:rPr>
              <a:t>カテゴリ</a:t>
            </a:r>
            <a:endParaRPr lang="en-US" sz="3200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1A1E66-3A9A-75AE-544C-0FA4AD1242DB}"/>
              </a:ext>
            </a:extLst>
          </p:cNvPr>
          <p:cNvSpPr txBox="1"/>
          <p:nvPr/>
        </p:nvSpPr>
        <p:spPr>
          <a:xfrm>
            <a:off x="4228454" y="5389508"/>
            <a:ext cx="106143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支出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731DD5-2CBA-9177-DCDB-D07660B8665D}"/>
              </a:ext>
            </a:extLst>
          </p:cNvPr>
          <p:cNvSpPr/>
          <p:nvPr/>
        </p:nvSpPr>
        <p:spPr>
          <a:xfrm>
            <a:off x="257960" y="6390410"/>
            <a:ext cx="901258" cy="9548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/>
          </a:p>
        </p:txBody>
      </p:sp>
      <p:sp>
        <p:nvSpPr>
          <p:cNvPr id="19" name="Flowchart: Merge 18">
            <a:extLst>
              <a:ext uri="{FF2B5EF4-FFF2-40B4-BE49-F238E27FC236}">
                <a16:creationId xmlns:a16="http://schemas.microsoft.com/office/drawing/2014/main" id="{CB7EAEAF-DF15-32A7-87FA-794B61E681C7}"/>
              </a:ext>
            </a:extLst>
          </p:cNvPr>
          <p:cNvSpPr/>
          <p:nvPr/>
        </p:nvSpPr>
        <p:spPr>
          <a:xfrm>
            <a:off x="400387" y="6657660"/>
            <a:ext cx="614678" cy="431702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769F73-1897-A376-3260-3D13FC6FDB63}"/>
              </a:ext>
            </a:extLst>
          </p:cNvPr>
          <p:cNvSpPr/>
          <p:nvPr/>
        </p:nvSpPr>
        <p:spPr>
          <a:xfrm>
            <a:off x="257959" y="8456601"/>
            <a:ext cx="6308526" cy="9548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r"/>
            <a:r>
              <a:rPr lang="ja-JP" altLang="en-US" sz="3200">
                <a:solidFill>
                  <a:srgbClr val="E97132"/>
                </a:solidFill>
                <a:ea typeface="游ゴシック"/>
              </a:rPr>
              <a:t>金額　　　　　　円</a:t>
            </a:r>
            <a:endParaRPr lang="en-US" sz="3200">
              <a:solidFill>
                <a:srgbClr val="E97132"/>
              </a:solidFill>
              <a:ea typeface="游ゴシック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170A37-3C9C-EC99-C5CB-35F855CD5823}"/>
              </a:ext>
            </a:extLst>
          </p:cNvPr>
          <p:cNvSpPr txBox="1"/>
          <p:nvPr/>
        </p:nvSpPr>
        <p:spPr>
          <a:xfrm>
            <a:off x="2885545" y="7718334"/>
            <a:ext cx="111662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金額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6B90B-2328-FED3-B5C1-4664D436A88C}"/>
              </a:ext>
            </a:extLst>
          </p:cNvPr>
          <p:cNvSpPr/>
          <p:nvPr/>
        </p:nvSpPr>
        <p:spPr>
          <a:xfrm>
            <a:off x="25057" y="1645"/>
            <a:ext cx="6850719" cy="11050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SVG &gt; 사람 남자 미니멀리스트 - 무료 SVG 이미지 및 아이콘. | SVG Silh">
            <a:extLst>
              <a:ext uri="{FF2B5EF4-FFF2-40B4-BE49-F238E27FC236}">
                <a16:creationId xmlns:a16="http://schemas.microsoft.com/office/drawing/2014/main" id="{4A3F0939-FEAD-E0AD-E06D-D2AFAA0BB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506" y="11086211"/>
            <a:ext cx="993032" cy="930769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0EDB92AB-2727-27BB-6981-400FCE608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2736" y="11102502"/>
            <a:ext cx="914400" cy="9144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EDE7BC9-F2BC-C343-32D8-291F871DD4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1289" y="11102502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7937368-C2C2-2705-B185-2EAB127D165E}"/>
              </a:ext>
            </a:extLst>
          </p:cNvPr>
          <p:cNvSpPr txBox="1"/>
          <p:nvPr/>
        </p:nvSpPr>
        <p:spPr>
          <a:xfrm>
            <a:off x="45508" y="255475"/>
            <a:ext cx="114000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日付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7A0C97-3154-7803-A1B2-DE1E97288753}"/>
              </a:ext>
            </a:extLst>
          </p:cNvPr>
          <p:cNvSpPr/>
          <p:nvPr/>
        </p:nvSpPr>
        <p:spPr>
          <a:xfrm>
            <a:off x="1659229" y="5289215"/>
            <a:ext cx="1176251" cy="7484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120004-8D00-3229-0037-0EF773ED0B57}"/>
              </a:ext>
            </a:extLst>
          </p:cNvPr>
          <p:cNvSpPr txBox="1"/>
          <p:nvPr/>
        </p:nvSpPr>
        <p:spPr>
          <a:xfrm>
            <a:off x="1772588" y="5372189"/>
            <a:ext cx="106143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収入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02BFE-2F59-5DC2-E527-A95D3A723726}"/>
              </a:ext>
            </a:extLst>
          </p:cNvPr>
          <p:cNvSpPr txBox="1"/>
          <p:nvPr/>
        </p:nvSpPr>
        <p:spPr>
          <a:xfrm>
            <a:off x="1597563" y="262956"/>
            <a:ext cx="240709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今月の収入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4A6A37-D195-6D21-6833-6491ED430432}"/>
              </a:ext>
            </a:extLst>
          </p:cNvPr>
          <p:cNvSpPr txBox="1"/>
          <p:nvPr/>
        </p:nvSpPr>
        <p:spPr>
          <a:xfrm>
            <a:off x="4305096" y="262957"/>
            <a:ext cx="200177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全体収支</a:t>
            </a:r>
          </a:p>
        </p:txBody>
      </p:sp>
    </p:spTree>
    <p:extLst>
      <p:ext uri="{BB962C8B-B14F-4D97-AF65-F5344CB8AC3E}">
        <p14:creationId xmlns:p14="http://schemas.microsoft.com/office/powerpoint/2010/main" val="266700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B09B61-3AAF-30F6-6850-B3554A203357}"/>
              </a:ext>
            </a:extLst>
          </p:cNvPr>
          <p:cNvSpPr/>
          <p:nvPr/>
        </p:nvSpPr>
        <p:spPr>
          <a:xfrm>
            <a:off x="25057" y="1645"/>
            <a:ext cx="6850719" cy="11050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41FF3F-309F-D304-19E7-21CA2C959D56}"/>
              </a:ext>
            </a:extLst>
          </p:cNvPr>
          <p:cNvSpPr txBox="1"/>
          <p:nvPr/>
        </p:nvSpPr>
        <p:spPr>
          <a:xfrm>
            <a:off x="45508" y="255475"/>
            <a:ext cx="114000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日付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37640A-0A32-9A82-BBB8-345BCF70A52F}"/>
              </a:ext>
            </a:extLst>
          </p:cNvPr>
          <p:cNvSpPr txBox="1"/>
          <p:nvPr/>
        </p:nvSpPr>
        <p:spPr>
          <a:xfrm>
            <a:off x="1597563" y="262956"/>
            <a:ext cx="240709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今月の収入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86410-B7B6-6A3A-8D18-A6821AD776E8}"/>
              </a:ext>
            </a:extLst>
          </p:cNvPr>
          <p:cNvSpPr txBox="1"/>
          <p:nvPr/>
        </p:nvSpPr>
        <p:spPr>
          <a:xfrm>
            <a:off x="4305096" y="262957"/>
            <a:ext cx="200177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全体収支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BF8381-64BE-C566-0825-43F8750C9C61}"/>
              </a:ext>
            </a:extLst>
          </p:cNvPr>
          <p:cNvSpPr/>
          <p:nvPr/>
        </p:nvSpPr>
        <p:spPr>
          <a:xfrm>
            <a:off x="7287" y="10923749"/>
            <a:ext cx="6806758" cy="12625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40A11E17-ACA2-AC22-4662-DB4B344F232F}"/>
              </a:ext>
            </a:extLst>
          </p:cNvPr>
          <p:cNvSpPr/>
          <p:nvPr/>
        </p:nvSpPr>
        <p:spPr>
          <a:xfrm>
            <a:off x="248410" y="11227680"/>
            <a:ext cx="900467" cy="655308"/>
          </a:xfrm>
          <a:prstGeom prst="up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SVG &gt; 사람 남자 미니멀리스트 - 무료 SVG 이미지 및 아이콘. | SVG Silh">
            <a:extLst>
              <a:ext uri="{FF2B5EF4-FFF2-40B4-BE49-F238E27FC236}">
                <a16:creationId xmlns:a16="http://schemas.microsoft.com/office/drawing/2014/main" id="{18A8E669-6E9E-4175-D4EC-D0980431D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506" y="11086211"/>
            <a:ext cx="993032" cy="930769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86F1F5-97F8-FC06-E348-8799995A12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2736" y="11102502"/>
            <a:ext cx="914400" cy="9144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7AA5C41-6A76-7CEF-4D54-D7A6E535F4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1289" y="11102502"/>
            <a:ext cx="914400" cy="9144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039DE0E-3FA8-7FC2-D461-DF5CF051D2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86968" y="1553182"/>
            <a:ext cx="7448145" cy="72373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A5171D4-78DA-EA35-BF43-ADEE4C47F924}"/>
              </a:ext>
            </a:extLst>
          </p:cNvPr>
          <p:cNvSpPr txBox="1"/>
          <p:nvPr/>
        </p:nvSpPr>
        <p:spPr>
          <a:xfrm>
            <a:off x="2100160" y="9196191"/>
            <a:ext cx="2634075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6600">
                <a:ea typeface="游ゴシック"/>
              </a:rPr>
              <a:t>AI占い</a:t>
            </a:r>
          </a:p>
        </p:txBody>
      </p:sp>
    </p:spTree>
    <p:extLst>
      <p:ext uri="{BB962C8B-B14F-4D97-AF65-F5344CB8AC3E}">
        <p14:creationId xmlns:p14="http://schemas.microsoft.com/office/powerpoint/2010/main" val="581301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20AA0D0-7F7B-1BEA-D657-73D698FE3171}"/>
              </a:ext>
            </a:extLst>
          </p:cNvPr>
          <p:cNvSpPr/>
          <p:nvPr/>
        </p:nvSpPr>
        <p:spPr>
          <a:xfrm>
            <a:off x="7287" y="10923749"/>
            <a:ext cx="6806758" cy="12625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B299D63B-F78B-EB0A-A37D-727DDDBA5230}"/>
              </a:ext>
            </a:extLst>
          </p:cNvPr>
          <p:cNvSpPr/>
          <p:nvPr/>
        </p:nvSpPr>
        <p:spPr>
          <a:xfrm>
            <a:off x="248410" y="11227680"/>
            <a:ext cx="900467" cy="655308"/>
          </a:xfrm>
          <a:prstGeom prst="up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SVG &gt; 사람 남자 미니멀리스트 - 무료 SVG 이미지 및 아이콘. | SVG Silh">
            <a:extLst>
              <a:ext uri="{FF2B5EF4-FFF2-40B4-BE49-F238E27FC236}">
                <a16:creationId xmlns:a16="http://schemas.microsoft.com/office/drawing/2014/main" id="{0CDDB763-F518-17FD-E0A3-59E09D873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506" y="11086211"/>
            <a:ext cx="993032" cy="93076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DFA1202-0CEC-B57E-40A4-54042FE85D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2736" y="11102502"/>
            <a:ext cx="914400" cy="9144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9C63669-B142-2BC9-114A-7C17BDB3FE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1289" y="11102502"/>
            <a:ext cx="914400" cy="9144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FAFE9F2-71EA-3D66-917C-AB4FCD79CA5C}"/>
              </a:ext>
            </a:extLst>
          </p:cNvPr>
          <p:cNvSpPr/>
          <p:nvPr/>
        </p:nvSpPr>
        <p:spPr>
          <a:xfrm>
            <a:off x="-23582" y="1645"/>
            <a:ext cx="6850719" cy="11050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E0E770-5503-ABA6-DF51-E6F12FF413E5}"/>
              </a:ext>
            </a:extLst>
          </p:cNvPr>
          <p:cNvSpPr txBox="1"/>
          <p:nvPr/>
        </p:nvSpPr>
        <p:spPr>
          <a:xfrm>
            <a:off x="45508" y="255475"/>
            <a:ext cx="114000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日付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B33E25-C454-494A-DD7A-DC92513B540A}"/>
              </a:ext>
            </a:extLst>
          </p:cNvPr>
          <p:cNvSpPr txBox="1"/>
          <p:nvPr/>
        </p:nvSpPr>
        <p:spPr>
          <a:xfrm>
            <a:off x="1597563" y="262956"/>
            <a:ext cx="240709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今月の収入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40E3DB-EBAF-8E71-B9C6-B994E7CA4F8B}"/>
              </a:ext>
            </a:extLst>
          </p:cNvPr>
          <p:cNvSpPr txBox="1"/>
          <p:nvPr/>
        </p:nvSpPr>
        <p:spPr>
          <a:xfrm>
            <a:off x="4305096" y="262957"/>
            <a:ext cx="200177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全体収支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1BE5FE9-C7F0-6860-CD9A-51AAA27A5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934643"/>
              </p:ext>
            </p:extLst>
          </p:nvPr>
        </p:nvGraphicFramePr>
        <p:xfrm>
          <a:off x="49935" y="1484376"/>
          <a:ext cx="6873699" cy="8794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957">
                  <a:extLst>
                    <a:ext uri="{9D8B030D-6E8A-4147-A177-3AD203B41FA5}">
                      <a16:colId xmlns:a16="http://schemas.microsoft.com/office/drawing/2014/main" val="600633865"/>
                    </a:ext>
                  </a:extLst>
                </a:gridCol>
                <a:gridCol w="981957">
                  <a:extLst>
                    <a:ext uri="{9D8B030D-6E8A-4147-A177-3AD203B41FA5}">
                      <a16:colId xmlns:a16="http://schemas.microsoft.com/office/drawing/2014/main" val="1006491399"/>
                    </a:ext>
                  </a:extLst>
                </a:gridCol>
                <a:gridCol w="981957">
                  <a:extLst>
                    <a:ext uri="{9D8B030D-6E8A-4147-A177-3AD203B41FA5}">
                      <a16:colId xmlns:a16="http://schemas.microsoft.com/office/drawing/2014/main" val="1304280034"/>
                    </a:ext>
                  </a:extLst>
                </a:gridCol>
                <a:gridCol w="981957">
                  <a:extLst>
                    <a:ext uri="{9D8B030D-6E8A-4147-A177-3AD203B41FA5}">
                      <a16:colId xmlns:a16="http://schemas.microsoft.com/office/drawing/2014/main" val="2449345160"/>
                    </a:ext>
                  </a:extLst>
                </a:gridCol>
                <a:gridCol w="981957">
                  <a:extLst>
                    <a:ext uri="{9D8B030D-6E8A-4147-A177-3AD203B41FA5}">
                      <a16:colId xmlns:a16="http://schemas.microsoft.com/office/drawing/2014/main" val="1534397952"/>
                    </a:ext>
                  </a:extLst>
                </a:gridCol>
                <a:gridCol w="981957">
                  <a:extLst>
                    <a:ext uri="{9D8B030D-6E8A-4147-A177-3AD203B41FA5}">
                      <a16:colId xmlns:a16="http://schemas.microsoft.com/office/drawing/2014/main" val="4131712804"/>
                    </a:ext>
                  </a:extLst>
                </a:gridCol>
                <a:gridCol w="981957">
                  <a:extLst>
                    <a:ext uri="{9D8B030D-6E8A-4147-A177-3AD203B41FA5}">
                      <a16:colId xmlns:a16="http://schemas.microsoft.com/office/drawing/2014/main" val="1496282273"/>
                    </a:ext>
                  </a:extLst>
                </a:gridCol>
              </a:tblGrid>
              <a:tr h="100672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3200"/>
                        <a:t>日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3200"/>
                        <a:t>月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3200"/>
                        <a:t>火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3200"/>
                        <a:t>水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3200"/>
                        <a:t>木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3200"/>
                        <a:t>金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3200"/>
                        <a:t>土</a:t>
                      </a:r>
                      <a:endParaRPr lang="en-US" sz="3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55504"/>
                  </a:ext>
                </a:extLst>
              </a:tr>
              <a:tr h="155757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1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1800" b="1"/>
                        <a:t>収支</a:t>
                      </a:r>
                      <a:endParaRPr lang="en-US" sz="1800" b="1"/>
                    </a:p>
                    <a:p>
                      <a:pPr lvl="0" algn="ctr">
                        <a:buNone/>
                      </a:pP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290"/>
                  </a:ext>
                </a:extLst>
              </a:tr>
              <a:tr h="155757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11</a:t>
                      </a:r>
                    </a:p>
                    <a:p>
                      <a:pPr lvl="0" algn="ctr">
                        <a:buNone/>
                      </a:pP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974860"/>
                  </a:ext>
                </a:extLst>
              </a:tr>
              <a:tr h="155757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15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1800" b="1"/>
                        <a:t>収入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1800" b="1"/>
                        <a:t>収支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18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1800" b="1"/>
                        <a:t>収支</a:t>
                      </a:r>
                      <a:endParaRPr lang="en-US" sz="1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718279"/>
                  </a:ext>
                </a:extLst>
              </a:tr>
              <a:tr h="155757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638416"/>
                  </a:ext>
                </a:extLst>
              </a:tr>
              <a:tr h="155757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036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73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グラフィックス 16" descr="円グラフ 単色塗りつぶし">
            <a:extLst>
              <a:ext uri="{FF2B5EF4-FFF2-40B4-BE49-F238E27FC236}">
                <a16:creationId xmlns:a16="http://schemas.microsoft.com/office/drawing/2014/main" id="{4755EE02-2DF3-361C-E422-BAAA5904F2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5425" y="3627398"/>
            <a:ext cx="3782990" cy="3782990"/>
          </a:xfrm>
          <a:prstGeom prst="rect">
            <a:avLst/>
          </a:prstGeom>
        </p:spPr>
      </p:pic>
      <p:sp>
        <p:nvSpPr>
          <p:cNvPr id="19" name="フローチャート: 端子 18">
            <a:extLst>
              <a:ext uri="{FF2B5EF4-FFF2-40B4-BE49-F238E27FC236}">
                <a16:creationId xmlns:a16="http://schemas.microsoft.com/office/drawing/2014/main" id="{2F0B32E4-997B-4A29-9E42-9071F0E4BFA9}"/>
              </a:ext>
            </a:extLst>
          </p:cNvPr>
          <p:cNvSpPr/>
          <p:nvPr/>
        </p:nvSpPr>
        <p:spPr>
          <a:xfrm>
            <a:off x="3540665" y="3024059"/>
            <a:ext cx="2008782" cy="601260"/>
          </a:xfrm>
          <a:prstGeom prst="flowChartTerminator">
            <a:avLst/>
          </a:prstGeom>
          <a:solidFill>
            <a:srgbClr val="FF8F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フローチャート: 端子 20">
            <a:extLst>
              <a:ext uri="{FF2B5EF4-FFF2-40B4-BE49-F238E27FC236}">
                <a16:creationId xmlns:a16="http://schemas.microsoft.com/office/drawing/2014/main" id="{67BBD146-F269-D51D-1E1F-7F15D87B6084}"/>
              </a:ext>
            </a:extLst>
          </p:cNvPr>
          <p:cNvSpPr/>
          <p:nvPr/>
        </p:nvSpPr>
        <p:spPr>
          <a:xfrm>
            <a:off x="1198061" y="3024059"/>
            <a:ext cx="2008782" cy="601260"/>
          </a:xfrm>
          <a:prstGeom prst="flowChartTerminator">
            <a:avLst/>
          </a:prstGeom>
          <a:solidFill>
            <a:srgbClr val="8FE4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300E8D3-9C03-09C2-E634-D090540327AD}"/>
              </a:ext>
            </a:extLst>
          </p:cNvPr>
          <p:cNvSpPr txBox="1"/>
          <p:nvPr/>
        </p:nvSpPr>
        <p:spPr>
          <a:xfrm>
            <a:off x="1476134" y="3024059"/>
            <a:ext cx="1532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/>
              <a:t>収入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6CE0E40-FCA1-C336-1936-D7A835774A29}"/>
              </a:ext>
            </a:extLst>
          </p:cNvPr>
          <p:cNvSpPr txBox="1"/>
          <p:nvPr/>
        </p:nvSpPr>
        <p:spPr>
          <a:xfrm>
            <a:off x="3839850" y="3026138"/>
            <a:ext cx="1410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/>
              <a:t>支出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DC0345F-7CDC-5930-815A-EFD3EB2CFC63}"/>
              </a:ext>
            </a:extLst>
          </p:cNvPr>
          <p:cNvSpPr/>
          <p:nvPr/>
        </p:nvSpPr>
        <p:spPr>
          <a:xfrm>
            <a:off x="329350" y="7742483"/>
            <a:ext cx="6155140" cy="7078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5AE2412-58EE-E5EE-D19D-59C301D0D8D9}"/>
              </a:ext>
            </a:extLst>
          </p:cNvPr>
          <p:cNvSpPr txBox="1"/>
          <p:nvPr/>
        </p:nvSpPr>
        <p:spPr>
          <a:xfrm>
            <a:off x="505338" y="7901383"/>
            <a:ext cx="759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食費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E425E4E-5737-35DA-3D2C-8DEB9B448F89}"/>
              </a:ext>
            </a:extLst>
          </p:cNvPr>
          <p:cNvSpPr txBox="1"/>
          <p:nvPr/>
        </p:nvSpPr>
        <p:spPr>
          <a:xfrm>
            <a:off x="4850382" y="7905070"/>
            <a:ext cx="896065" cy="396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/>
              <a:t>500</a:t>
            </a:r>
            <a:r>
              <a:rPr kumimoji="1" lang="ja-JP" altLang="en-US" sz="2000"/>
              <a:t>円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79E99319-BBDD-1F55-87A9-69BB2EFA8CA8}"/>
              </a:ext>
            </a:extLst>
          </p:cNvPr>
          <p:cNvSpPr/>
          <p:nvPr/>
        </p:nvSpPr>
        <p:spPr>
          <a:xfrm>
            <a:off x="329350" y="8827521"/>
            <a:ext cx="6155140" cy="7078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06A7C0A-FDD4-8F0B-08FF-DDEDBF37807F}"/>
              </a:ext>
            </a:extLst>
          </p:cNvPr>
          <p:cNvSpPr txBox="1"/>
          <p:nvPr/>
        </p:nvSpPr>
        <p:spPr>
          <a:xfrm>
            <a:off x="505338" y="8986421"/>
            <a:ext cx="759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食費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E469F92-4A3A-2B40-4673-783D963BE7EE}"/>
              </a:ext>
            </a:extLst>
          </p:cNvPr>
          <p:cNvSpPr txBox="1"/>
          <p:nvPr/>
        </p:nvSpPr>
        <p:spPr>
          <a:xfrm>
            <a:off x="4850382" y="8990108"/>
            <a:ext cx="896065" cy="396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/>
              <a:t>500</a:t>
            </a:r>
            <a:r>
              <a:rPr kumimoji="1" lang="ja-JP" altLang="en-US" sz="2000"/>
              <a:t>円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24C40695-FD71-FCEB-0A67-A8919CFD7464}"/>
              </a:ext>
            </a:extLst>
          </p:cNvPr>
          <p:cNvSpPr/>
          <p:nvPr/>
        </p:nvSpPr>
        <p:spPr>
          <a:xfrm>
            <a:off x="337999" y="9912559"/>
            <a:ext cx="6155140" cy="7078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F502EAE-45F9-E2E2-4404-5A6BA727D6F8}"/>
              </a:ext>
            </a:extLst>
          </p:cNvPr>
          <p:cNvSpPr txBox="1"/>
          <p:nvPr/>
        </p:nvSpPr>
        <p:spPr>
          <a:xfrm>
            <a:off x="513987" y="10071459"/>
            <a:ext cx="759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食費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F44FEDFC-9BFC-2CD1-6935-4672DD1F00D2}"/>
              </a:ext>
            </a:extLst>
          </p:cNvPr>
          <p:cNvSpPr txBox="1"/>
          <p:nvPr/>
        </p:nvSpPr>
        <p:spPr>
          <a:xfrm>
            <a:off x="4859031" y="10075146"/>
            <a:ext cx="896065" cy="396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/>
              <a:t>500</a:t>
            </a:r>
            <a:r>
              <a:rPr kumimoji="1" lang="ja-JP" altLang="en-US" sz="2000"/>
              <a:t>円</a:t>
            </a:r>
          </a:p>
        </p:txBody>
      </p:sp>
      <p:sp>
        <p:nvSpPr>
          <p:cNvPr id="36" name="Rectangle 10">
            <a:extLst>
              <a:ext uri="{FF2B5EF4-FFF2-40B4-BE49-F238E27FC236}">
                <a16:creationId xmlns:a16="http://schemas.microsoft.com/office/drawing/2014/main" id="{EDFBA931-7480-ED5C-96FD-C7543EF36A00}"/>
              </a:ext>
            </a:extLst>
          </p:cNvPr>
          <p:cNvSpPr/>
          <p:nvPr/>
        </p:nvSpPr>
        <p:spPr>
          <a:xfrm>
            <a:off x="7287" y="10923749"/>
            <a:ext cx="6806758" cy="12625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Up 12">
            <a:extLst>
              <a:ext uri="{FF2B5EF4-FFF2-40B4-BE49-F238E27FC236}">
                <a16:creationId xmlns:a16="http://schemas.microsoft.com/office/drawing/2014/main" id="{0B87FF77-2D57-1FB1-0230-0B94C228599F}"/>
              </a:ext>
            </a:extLst>
          </p:cNvPr>
          <p:cNvSpPr/>
          <p:nvPr/>
        </p:nvSpPr>
        <p:spPr>
          <a:xfrm>
            <a:off x="248410" y="11227680"/>
            <a:ext cx="900467" cy="655308"/>
          </a:xfrm>
          <a:prstGeom prst="up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14" descr="SVG &gt; 사람 남자 미니멀리스트 - 무료 SVG 이미지 및 아이콘. | SVG Silh">
            <a:extLst>
              <a:ext uri="{FF2B5EF4-FFF2-40B4-BE49-F238E27FC236}">
                <a16:creationId xmlns:a16="http://schemas.microsoft.com/office/drawing/2014/main" id="{74A49655-1D30-5FDD-0325-137F46BF8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506" y="11086211"/>
            <a:ext cx="993032" cy="930769"/>
          </a:xfrm>
          <a:prstGeom prst="rect">
            <a:avLst/>
          </a:prstGeom>
        </p:spPr>
      </p:pic>
      <p:pic>
        <p:nvPicPr>
          <p:cNvPr id="42" name="Graphic 16">
            <a:extLst>
              <a:ext uri="{FF2B5EF4-FFF2-40B4-BE49-F238E27FC236}">
                <a16:creationId xmlns:a16="http://schemas.microsoft.com/office/drawing/2014/main" id="{B7C62E1B-84DC-A694-E323-7ADA7104B6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2736" y="11102502"/>
            <a:ext cx="914400" cy="914400"/>
          </a:xfrm>
          <a:prstGeom prst="rect">
            <a:avLst/>
          </a:prstGeom>
        </p:spPr>
      </p:pic>
      <p:pic>
        <p:nvPicPr>
          <p:cNvPr id="44" name="Graphic 18">
            <a:extLst>
              <a:ext uri="{FF2B5EF4-FFF2-40B4-BE49-F238E27FC236}">
                <a16:creationId xmlns:a16="http://schemas.microsoft.com/office/drawing/2014/main" id="{6F08031F-0C68-BE59-40C5-80A4209A94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71289" y="11102502"/>
            <a:ext cx="914400" cy="914400"/>
          </a:xfrm>
          <a:prstGeom prst="rect">
            <a:avLst/>
          </a:prstGeom>
        </p:spPr>
      </p:pic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CBEDD135-6458-78BB-DDCA-5A8770076499}"/>
              </a:ext>
            </a:extLst>
          </p:cNvPr>
          <p:cNvSpPr/>
          <p:nvPr/>
        </p:nvSpPr>
        <p:spPr>
          <a:xfrm>
            <a:off x="329350" y="2097583"/>
            <a:ext cx="6155140" cy="7078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B654E85-F4CE-6461-DE54-290B8A4AB495}"/>
              </a:ext>
            </a:extLst>
          </p:cNvPr>
          <p:cNvSpPr txBox="1"/>
          <p:nvPr/>
        </p:nvSpPr>
        <p:spPr>
          <a:xfrm>
            <a:off x="505338" y="2219559"/>
            <a:ext cx="759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残高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F1A3928B-D3E4-074D-2D7B-0409DD5A3C41}"/>
              </a:ext>
            </a:extLst>
          </p:cNvPr>
          <p:cNvSpPr txBox="1"/>
          <p:nvPr/>
        </p:nvSpPr>
        <p:spPr>
          <a:xfrm>
            <a:off x="4850382" y="2223246"/>
            <a:ext cx="1435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/>
              <a:t>-1500</a:t>
            </a:r>
            <a:r>
              <a:rPr kumimoji="1" lang="ja-JP" altLang="en-US" sz="2000"/>
              <a:t>円</a:t>
            </a:r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6DBE4871-FC7B-EFF4-2CE9-95D05A08E80E}"/>
              </a:ext>
            </a:extLst>
          </p:cNvPr>
          <p:cNvSpPr/>
          <p:nvPr/>
        </p:nvSpPr>
        <p:spPr>
          <a:xfrm>
            <a:off x="329350" y="282517"/>
            <a:ext cx="6155140" cy="8577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F9B0DBFE-4889-A8B8-2A16-76783E051279}"/>
              </a:ext>
            </a:extLst>
          </p:cNvPr>
          <p:cNvSpPr txBox="1"/>
          <p:nvPr/>
        </p:nvSpPr>
        <p:spPr>
          <a:xfrm>
            <a:off x="1897905" y="309306"/>
            <a:ext cx="3035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800"/>
              <a:t>2026</a:t>
            </a:r>
            <a:r>
              <a:rPr kumimoji="1" lang="ja-JP" altLang="en-US" sz="4800"/>
              <a:t>年</a:t>
            </a:r>
            <a:r>
              <a:rPr kumimoji="1" lang="en-US" altLang="ja-JP" sz="4800"/>
              <a:t>8</a:t>
            </a:r>
            <a:r>
              <a:rPr kumimoji="1" lang="ja-JP" altLang="en-US" sz="4800"/>
              <a:t>月</a:t>
            </a: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4978FD28-0692-B1BA-8646-57719FF8279E}"/>
              </a:ext>
            </a:extLst>
          </p:cNvPr>
          <p:cNvSpPr/>
          <p:nvPr/>
        </p:nvSpPr>
        <p:spPr>
          <a:xfrm>
            <a:off x="351430" y="1280402"/>
            <a:ext cx="2855413" cy="7078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C6D85D1E-C705-4BB1-9C43-7835CED7A5F5}"/>
              </a:ext>
            </a:extLst>
          </p:cNvPr>
          <p:cNvSpPr txBox="1"/>
          <p:nvPr/>
        </p:nvSpPr>
        <p:spPr>
          <a:xfrm>
            <a:off x="438785" y="1460718"/>
            <a:ext cx="759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収入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7154FFE9-217D-A2E2-BC85-E58E93F18B65}"/>
              </a:ext>
            </a:extLst>
          </p:cNvPr>
          <p:cNvSpPr txBox="1"/>
          <p:nvPr/>
        </p:nvSpPr>
        <p:spPr>
          <a:xfrm>
            <a:off x="2375796" y="1435662"/>
            <a:ext cx="632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/>
              <a:t>0</a:t>
            </a:r>
            <a:r>
              <a:rPr kumimoji="1" lang="ja-JP" altLang="en-US" sz="2000"/>
              <a:t>円</a:t>
            </a:r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03542A25-C01E-8AC8-C6E2-BB389047F725}"/>
              </a:ext>
            </a:extLst>
          </p:cNvPr>
          <p:cNvSpPr/>
          <p:nvPr/>
        </p:nvSpPr>
        <p:spPr>
          <a:xfrm>
            <a:off x="3629077" y="1281295"/>
            <a:ext cx="2855413" cy="7078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6B28C74B-6D42-CC85-58A5-064270A10751}"/>
              </a:ext>
            </a:extLst>
          </p:cNvPr>
          <p:cNvSpPr txBox="1"/>
          <p:nvPr/>
        </p:nvSpPr>
        <p:spPr>
          <a:xfrm>
            <a:off x="3716432" y="1461611"/>
            <a:ext cx="759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支出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C14B3E09-E614-9984-0F14-AE5559142827}"/>
              </a:ext>
            </a:extLst>
          </p:cNvPr>
          <p:cNvSpPr txBox="1"/>
          <p:nvPr/>
        </p:nvSpPr>
        <p:spPr>
          <a:xfrm>
            <a:off x="5371290" y="1435662"/>
            <a:ext cx="1047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/>
              <a:t>1500</a:t>
            </a:r>
            <a:r>
              <a:rPr kumimoji="1" lang="ja-JP" altLang="en-US" sz="2000"/>
              <a:t>円</a:t>
            </a:r>
          </a:p>
        </p:txBody>
      </p:sp>
    </p:spTree>
    <p:extLst>
      <p:ext uri="{BB962C8B-B14F-4D97-AF65-F5344CB8AC3E}">
        <p14:creationId xmlns:p14="http://schemas.microsoft.com/office/powerpoint/2010/main" val="994157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DD2A7E-D50C-B575-5E60-9F2425AA89A3}"/>
              </a:ext>
            </a:extLst>
          </p:cNvPr>
          <p:cNvSpPr/>
          <p:nvPr/>
        </p:nvSpPr>
        <p:spPr>
          <a:xfrm>
            <a:off x="7287" y="10923749"/>
            <a:ext cx="6806758" cy="12625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A0C0AB21-46BA-D93E-D06F-7E9ADABF1A05}"/>
              </a:ext>
            </a:extLst>
          </p:cNvPr>
          <p:cNvSpPr/>
          <p:nvPr/>
        </p:nvSpPr>
        <p:spPr>
          <a:xfrm>
            <a:off x="248410" y="11227680"/>
            <a:ext cx="900467" cy="655308"/>
          </a:xfrm>
          <a:prstGeom prst="up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VG &gt; 사람 남자 미니멀리스트 - 무료 SVG 이미지 및 아이콘. | SVG Silh">
            <a:extLst>
              <a:ext uri="{FF2B5EF4-FFF2-40B4-BE49-F238E27FC236}">
                <a16:creationId xmlns:a16="http://schemas.microsoft.com/office/drawing/2014/main" id="{DD448BCA-51B4-E3A9-3204-3FC09C9E1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506" y="11086211"/>
            <a:ext cx="993032" cy="93076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98D0C95-F086-C732-52FB-B5E43A7BCB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2736" y="11102502"/>
            <a:ext cx="914400" cy="9144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4A0DA1C-CE5A-C694-2995-3305CFDDD643}"/>
              </a:ext>
            </a:extLst>
          </p:cNvPr>
          <p:cNvSpPr/>
          <p:nvPr/>
        </p:nvSpPr>
        <p:spPr>
          <a:xfrm>
            <a:off x="331852" y="2777848"/>
            <a:ext cx="6244758" cy="125569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3200">
                <a:solidFill>
                  <a:schemeClr val="accent2"/>
                </a:solidFill>
                <a:ea typeface="游ゴシック"/>
              </a:rPr>
              <a:t>金額</a:t>
            </a:r>
            <a:endParaRPr lang="en-US" sz="3200">
              <a:solidFill>
                <a:schemeClr val="accent2"/>
              </a:solidFill>
              <a:ea typeface="游ゴシック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71DFDCF-5BEE-BCE0-8C04-DF740129AF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1289" y="11102502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F7E579-E837-BCE1-F9D2-069A75ECF0F4}"/>
              </a:ext>
            </a:extLst>
          </p:cNvPr>
          <p:cNvSpPr txBox="1"/>
          <p:nvPr/>
        </p:nvSpPr>
        <p:spPr>
          <a:xfrm>
            <a:off x="325301" y="1982663"/>
            <a:ext cx="206529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3600">
                <a:ea typeface="游ゴシック"/>
              </a:rPr>
              <a:t>予算設定</a:t>
            </a:r>
            <a:endParaRPr lang="en-US" sz="3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5E4BDF-5129-31D9-BC72-119EB2A69622}"/>
              </a:ext>
            </a:extLst>
          </p:cNvPr>
          <p:cNvSpPr txBox="1"/>
          <p:nvPr/>
        </p:nvSpPr>
        <p:spPr>
          <a:xfrm>
            <a:off x="219131" y="4272323"/>
            <a:ext cx="268138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3600">
                <a:ea typeface="游ゴシック"/>
              </a:rPr>
              <a:t>固定費設定</a:t>
            </a:r>
            <a:endParaRPr lang="en-US" sz="36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DF4C88-10E4-AAE1-EE41-3CE38C66C1DF}"/>
              </a:ext>
            </a:extLst>
          </p:cNvPr>
          <p:cNvSpPr/>
          <p:nvPr/>
        </p:nvSpPr>
        <p:spPr>
          <a:xfrm>
            <a:off x="25057" y="1645"/>
            <a:ext cx="6850719" cy="11050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507ABB-BCBE-4AB8-FAF1-D4915EE3BF4D}"/>
              </a:ext>
            </a:extLst>
          </p:cNvPr>
          <p:cNvSpPr txBox="1"/>
          <p:nvPr/>
        </p:nvSpPr>
        <p:spPr>
          <a:xfrm>
            <a:off x="45508" y="255475"/>
            <a:ext cx="114000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日付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10D638-BEC9-C370-A91D-9EF757572B45}"/>
              </a:ext>
            </a:extLst>
          </p:cNvPr>
          <p:cNvSpPr txBox="1"/>
          <p:nvPr/>
        </p:nvSpPr>
        <p:spPr>
          <a:xfrm>
            <a:off x="1597563" y="262956"/>
            <a:ext cx="240709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今月の収入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313EE8-3C01-129C-7500-E541CEAB6911}"/>
              </a:ext>
            </a:extLst>
          </p:cNvPr>
          <p:cNvSpPr txBox="1"/>
          <p:nvPr/>
        </p:nvSpPr>
        <p:spPr>
          <a:xfrm>
            <a:off x="4305096" y="262957"/>
            <a:ext cx="200177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全体収支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6939C2-4A85-A19A-0A38-2BD5245AE1AD}"/>
              </a:ext>
            </a:extLst>
          </p:cNvPr>
          <p:cNvSpPr/>
          <p:nvPr/>
        </p:nvSpPr>
        <p:spPr>
          <a:xfrm>
            <a:off x="282541" y="5063055"/>
            <a:ext cx="6308526" cy="9548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3200">
                <a:solidFill>
                  <a:schemeClr val="accent2"/>
                </a:solidFill>
                <a:ea typeface="游ゴシック"/>
              </a:rPr>
              <a:t>カテゴリ</a:t>
            </a:r>
            <a:endParaRPr lang="en-US" sz="3200">
              <a:solidFill>
                <a:schemeClr val="accent2"/>
              </a:solidFill>
              <a:ea typeface="游ゴシック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7887A1-6FDA-5364-FC70-3B5534202D58}"/>
              </a:ext>
            </a:extLst>
          </p:cNvPr>
          <p:cNvSpPr/>
          <p:nvPr/>
        </p:nvSpPr>
        <p:spPr>
          <a:xfrm>
            <a:off x="282541" y="5063055"/>
            <a:ext cx="901258" cy="9548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019059EF-48D8-2C36-FB54-311BA0C12E0B}"/>
              </a:ext>
            </a:extLst>
          </p:cNvPr>
          <p:cNvSpPr/>
          <p:nvPr/>
        </p:nvSpPr>
        <p:spPr>
          <a:xfrm>
            <a:off x="424968" y="5330305"/>
            <a:ext cx="614678" cy="431702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346D6A-B84B-60CF-32A4-75B9FB4CDB73}"/>
              </a:ext>
            </a:extLst>
          </p:cNvPr>
          <p:cNvSpPr/>
          <p:nvPr/>
        </p:nvSpPr>
        <p:spPr>
          <a:xfrm>
            <a:off x="314966" y="6279012"/>
            <a:ext cx="6308526" cy="9548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3200">
                <a:solidFill>
                  <a:schemeClr val="accent2"/>
                </a:solidFill>
                <a:ea typeface="游ゴシック"/>
              </a:rPr>
              <a:t>金額</a:t>
            </a:r>
            <a:endParaRPr lang="en-US" sz="3200">
              <a:solidFill>
                <a:schemeClr val="accent2"/>
              </a:solidFill>
              <a:ea typeface="游ゴシック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4C952-5444-6665-C002-35BD6C8BDDEB}"/>
              </a:ext>
            </a:extLst>
          </p:cNvPr>
          <p:cNvSpPr txBox="1"/>
          <p:nvPr/>
        </p:nvSpPr>
        <p:spPr>
          <a:xfrm>
            <a:off x="270386" y="7718323"/>
            <a:ext cx="329380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600">
                <a:ea typeface="游ゴシック"/>
              </a:rPr>
              <a:t>固定費一覧</a:t>
            </a:r>
            <a:endParaRPr lang="en-US" sz="3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8F5220-196C-A996-BD3D-5C1545E23E45}"/>
              </a:ext>
            </a:extLst>
          </p:cNvPr>
          <p:cNvSpPr/>
          <p:nvPr/>
        </p:nvSpPr>
        <p:spPr>
          <a:xfrm>
            <a:off x="294967" y="8652386"/>
            <a:ext cx="6292644" cy="22614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871AD3-8C38-73B9-2521-93D27DAFB5DF}"/>
              </a:ext>
            </a:extLst>
          </p:cNvPr>
          <p:cNvCxnSpPr/>
          <p:nvPr/>
        </p:nvCxnSpPr>
        <p:spPr>
          <a:xfrm>
            <a:off x="6415548" y="8701548"/>
            <a:ext cx="7867" cy="218374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9AFF225-140A-035E-D3FE-3950176BE42F}"/>
              </a:ext>
            </a:extLst>
          </p:cNvPr>
          <p:cNvSpPr txBox="1"/>
          <p:nvPr/>
        </p:nvSpPr>
        <p:spPr>
          <a:xfrm>
            <a:off x="3146321" y="4277030"/>
            <a:ext cx="3490451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3600">
                <a:ea typeface="游ゴシック"/>
              </a:rPr>
              <a:t>頻度　あ</a:t>
            </a:r>
            <a:r>
              <a:rPr lang="ja-JP" altLang="en-US" sz="3600">
                <a:solidFill>
                  <a:schemeClr val="accent2"/>
                </a:solidFill>
                <a:ea typeface="游ゴシック"/>
              </a:rPr>
              <a:t>毎月</a:t>
            </a:r>
            <a:endParaRPr lang="en-US" sz="3600">
              <a:solidFill>
                <a:schemeClr val="accent2"/>
              </a:solidFill>
              <a:ea typeface="游ゴシック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42A102-7725-63FA-B048-AB5371322A92}"/>
              </a:ext>
            </a:extLst>
          </p:cNvPr>
          <p:cNvSpPr/>
          <p:nvPr/>
        </p:nvSpPr>
        <p:spPr>
          <a:xfrm>
            <a:off x="4313765" y="4276473"/>
            <a:ext cx="606292" cy="6352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/>
          </a:p>
        </p:txBody>
      </p:sp>
      <p:sp>
        <p:nvSpPr>
          <p:cNvPr id="10" name="Flowchart: Merge 9">
            <a:extLst>
              <a:ext uri="{FF2B5EF4-FFF2-40B4-BE49-F238E27FC236}">
                <a16:creationId xmlns:a16="http://schemas.microsoft.com/office/drawing/2014/main" id="{126694F1-CB7A-84FA-0404-BB763777E982}"/>
              </a:ext>
            </a:extLst>
          </p:cNvPr>
          <p:cNvSpPr/>
          <p:nvPr/>
        </p:nvSpPr>
        <p:spPr>
          <a:xfrm>
            <a:off x="4308709" y="4371659"/>
            <a:ext cx="614678" cy="431702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39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3e363c8-943f-4a96-a3a1-cd7664ab014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7DD3160B63A374B84FA28AF120612A7" ma:contentTypeVersion="6" ma:contentTypeDescription="新しいドキュメントを作成します。" ma:contentTypeScope="" ma:versionID="e9bc4293d98d0aa88fe8964074ff3cce">
  <xsd:schema xmlns:xsd="http://www.w3.org/2001/XMLSchema" xmlns:xs="http://www.w3.org/2001/XMLSchema" xmlns:p="http://schemas.microsoft.com/office/2006/metadata/properties" xmlns:ns3="53e363c8-943f-4a96-a3a1-cd7664ab014b" targetNamespace="http://schemas.microsoft.com/office/2006/metadata/properties" ma:root="true" ma:fieldsID="b1182bd3fdb10a938bbd689107fa443d" ns3:_="">
    <xsd:import namespace="53e363c8-943f-4a96-a3a1-cd7664ab014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e363c8-943f-4a96-a3a1-cd7664ab01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42C2EF-E204-4933-9534-A0CA6DF10BD6}">
  <ds:schemaRefs>
    <ds:schemaRef ds:uri="53e363c8-943f-4a96-a3a1-cd7664ab014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AEBF5D6-E840-41F6-888C-40C30C37A7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2EA07-985A-4D03-AC96-14FADEAB390E}">
  <ds:schemaRefs>
    <ds:schemaRef ds:uri="53e363c8-943f-4a96-a3a1-cd7664ab01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田村　詩織</dc:creator>
  <cp:revision>2</cp:revision>
  <dcterms:created xsi:type="dcterms:W3CDTF">2026-08-20T14:35:02Z</dcterms:created>
  <dcterms:modified xsi:type="dcterms:W3CDTF">2026-08-26T12:42:09Z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0x01010077DD3160B63A374B84FA28AF120612A7</vt:lpwstr>
  </property>
</Properties>
</file>